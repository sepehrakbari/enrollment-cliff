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sldIdLst>
    <p:sldId id="259" r:id="rId5"/>
    <p:sldId id="262" r:id="rId6"/>
    <p:sldId id="269" r:id="rId7"/>
    <p:sldId id="270" r:id="rId8"/>
    <p:sldId id="278" r:id="rId9"/>
    <p:sldId id="284" r:id="rId10"/>
    <p:sldId id="292" r:id="rId11"/>
    <p:sldId id="294" r:id="rId12"/>
    <p:sldId id="296" r:id="rId13"/>
    <p:sldId id="295" r:id="rId14"/>
    <p:sldId id="298" r:id="rId15"/>
    <p:sldId id="299" r:id="rId16"/>
    <p:sldId id="286" r:id="rId17"/>
    <p:sldId id="300" r:id="rId18"/>
    <p:sldId id="301" r:id="rId19"/>
    <p:sldId id="303" r:id="rId20"/>
    <p:sldId id="304" r:id="rId21"/>
    <p:sldId id="305" r:id="rId22"/>
    <p:sldId id="306" r:id="rId23"/>
    <p:sldId id="308" r:id="rId24"/>
    <p:sldId id="307" r:id="rId25"/>
    <p:sldId id="309" r:id="rId26"/>
    <p:sldId id="310" r:id="rId27"/>
    <p:sldId id="283" r:id="rId28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  <p1510:client id="{6AD5E037-7EB6-5E87-6C38-A6EA964E9895}" v="3" dt="2023-09-10T20:07:15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3"/>
    <p:restoredTop sz="93699"/>
  </p:normalViewPr>
  <p:slideViewPr>
    <p:cSldViewPr snapToGrid="0" snapToObjects="1">
      <p:cViewPr varScale="1">
        <p:scale>
          <a:sx n="79" d="100"/>
          <a:sy n="79" d="100"/>
        </p:scale>
        <p:origin x="912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Bayesian </a:t>
            </a:r>
            <a:br>
              <a:rPr lang="en-US" dirty="0"/>
            </a:br>
            <a:r>
              <a:rPr lang="en-US" dirty="0"/>
              <a:t>Computational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3A97B-06C2-BD5D-13DD-A14A00967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Live Session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Live Session 3: </a:t>
            </a:r>
            <a:br>
              <a:rPr lang="en-US" dirty="0"/>
            </a:br>
            <a:r>
              <a:rPr lang="en-US" dirty="0"/>
              <a:t>Latent Dirichlet Allocation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Sara </a:t>
            </a:r>
            <a:r>
              <a:rPr lang="en-US" dirty="0" err="1"/>
              <a:t>Jamshidi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40C8-E218-8D33-196E-60E639CE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99A6-2849-1D7F-F947-26D441598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Live Session 1 – Bayesian models in plain sight</a:t>
            </a:r>
          </a:p>
          <a:p>
            <a:r>
              <a:rPr lang="en-US" dirty="0"/>
              <a:t>Live Session 2 – Naïve Bayes classifier example with Heart Disease</a:t>
            </a:r>
          </a:p>
          <a:p>
            <a:r>
              <a:rPr lang="en-US" dirty="0"/>
              <a:t>Live Session 3 – Bayesian networks</a:t>
            </a:r>
          </a:p>
        </p:txBody>
      </p:sp>
    </p:spTree>
    <p:extLst>
      <p:ext uri="{BB962C8B-B14F-4D97-AF65-F5344CB8AC3E}">
        <p14:creationId xmlns:p14="http://schemas.microsoft.com/office/powerpoint/2010/main" val="1281128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8AEF-385E-D65D-D2A5-551F205C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070D1-767D-A381-FE9E-33F1DEE56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Bayesian networks.</a:t>
            </a:r>
          </a:p>
          <a:p>
            <a:r>
              <a:rPr lang="en-US" dirty="0"/>
              <a:t>Discuss Latent Dirichlet Allocation (LDA)</a:t>
            </a:r>
          </a:p>
        </p:txBody>
      </p:sp>
    </p:spTree>
    <p:extLst>
      <p:ext uri="{BB962C8B-B14F-4D97-AF65-F5344CB8AC3E}">
        <p14:creationId xmlns:p14="http://schemas.microsoft.com/office/powerpoint/2010/main" val="2330743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85AD-39FA-29C1-2D46-627337301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367783"/>
            <a:ext cx="16084552" cy="1551434"/>
          </a:xfrm>
        </p:spPr>
        <p:txBody>
          <a:bodyPr/>
          <a:lstStyle/>
          <a:p>
            <a:r>
              <a:rPr lang="en-US" dirty="0"/>
              <a:t>Bayesian Networks</a:t>
            </a:r>
          </a:p>
        </p:txBody>
      </p:sp>
    </p:spTree>
    <p:extLst>
      <p:ext uri="{BB962C8B-B14F-4D97-AF65-F5344CB8AC3E}">
        <p14:creationId xmlns:p14="http://schemas.microsoft.com/office/powerpoint/2010/main" val="1297297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18BE9-51D3-40A7-02A1-4F35823250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Bayesian networks are probabilistic network models.</a:t>
            </a:r>
          </a:p>
          <a:p>
            <a:pPr lvl="1"/>
            <a:r>
              <a:rPr lang="en-US" dirty="0"/>
              <a:t>Nodes represent variables. </a:t>
            </a:r>
          </a:p>
          <a:p>
            <a:pPr lvl="1"/>
            <a:r>
              <a:rPr lang="en-US" dirty="0"/>
              <a:t>Edges represent direct conditional dependencies.</a:t>
            </a:r>
          </a:p>
          <a:p>
            <a:pPr lvl="1"/>
            <a:r>
              <a:rPr lang="en-US" dirty="0"/>
              <a:t>Unconnected nodes are conditionally independent. </a:t>
            </a:r>
          </a:p>
          <a:p>
            <a:r>
              <a:rPr lang="en-US" i="1" dirty="0"/>
              <a:t>Traffic is influenced by accidents, which is influenced by rain. 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C6875-7FF7-FDEF-107F-47800F29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Bayesian Networks?</a:t>
            </a:r>
          </a:p>
        </p:txBody>
      </p:sp>
      <p:pic>
        <p:nvPicPr>
          <p:cNvPr id="15" name="Content Placeholder 14" descr="A diagram of a traffic jam&#10;&#10;Description automatically generated">
            <a:extLst>
              <a:ext uri="{FF2B5EF4-FFF2-40B4-BE49-F238E27FC236}">
                <a16:creationId xmlns:a16="http://schemas.microsoft.com/office/drawing/2014/main" id="{AFBEAD3A-E9D3-C994-9D8E-5C9A7A458A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723437" y="2085975"/>
            <a:ext cx="7239000" cy="6515100"/>
          </a:xfrm>
        </p:spPr>
      </p:pic>
    </p:spTree>
    <p:extLst>
      <p:ext uri="{BB962C8B-B14F-4D97-AF65-F5344CB8AC3E}">
        <p14:creationId xmlns:p14="http://schemas.microsoft.com/office/powerpoint/2010/main" val="394857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traffic jam&#10;&#10;Description automatically generated">
            <a:extLst>
              <a:ext uri="{FF2B5EF4-FFF2-40B4-BE49-F238E27FC236}">
                <a16:creationId xmlns:a16="http://schemas.microsoft.com/office/drawing/2014/main" id="{D5EC8F56-9F02-F372-EA66-8F04691CEE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88589" y="2483881"/>
            <a:ext cx="6894513" cy="620506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57A7E9-132D-D96D-A1C7-1A5CC44C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 Example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B423DE-FFA3-03BB-6A90-447AD738C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114555"/>
              </p:ext>
            </p:extLst>
          </p:nvPr>
        </p:nvGraphicFramePr>
        <p:xfrm>
          <a:off x="1098550" y="4366260"/>
          <a:ext cx="507523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235">
                  <a:extLst>
                    <a:ext uri="{9D8B030D-6E8A-4147-A177-3AD203B41FA5}">
                      <a16:colId xmlns:a16="http://schemas.microsoft.com/office/drawing/2014/main" val="3447128229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36845036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486940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00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8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408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22EC377-6D60-1570-3AB1-452012035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24384"/>
              </p:ext>
            </p:extLst>
          </p:nvPr>
        </p:nvGraphicFramePr>
        <p:xfrm>
          <a:off x="1098550" y="6616303"/>
          <a:ext cx="9952034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765">
                  <a:extLst>
                    <a:ext uri="{9D8B030D-6E8A-4147-A177-3AD203B41FA5}">
                      <a16:colId xmlns:a16="http://schemas.microsoft.com/office/drawing/2014/main" val="1312848509"/>
                    </a:ext>
                  </a:extLst>
                </a:gridCol>
                <a:gridCol w="2329440">
                  <a:extLst>
                    <a:ext uri="{9D8B030D-6E8A-4147-A177-3AD203B41FA5}">
                      <a16:colId xmlns:a16="http://schemas.microsoft.com/office/drawing/2014/main" val="1642062339"/>
                    </a:ext>
                  </a:extLst>
                </a:gridCol>
                <a:gridCol w="1757109">
                  <a:extLst>
                    <a:ext uri="{9D8B030D-6E8A-4147-A177-3AD203B41FA5}">
                      <a16:colId xmlns:a16="http://schemas.microsoft.com/office/drawing/2014/main" val="1331218443"/>
                    </a:ext>
                  </a:extLst>
                </a:gridCol>
                <a:gridCol w="2273907">
                  <a:extLst>
                    <a:ext uri="{9D8B030D-6E8A-4147-A177-3AD203B41FA5}">
                      <a16:colId xmlns:a16="http://schemas.microsoft.com/office/drawing/2014/main" val="1035513693"/>
                    </a:ext>
                  </a:extLst>
                </a:gridCol>
                <a:gridCol w="1712813">
                  <a:extLst>
                    <a:ext uri="{9D8B030D-6E8A-4147-A177-3AD203B41FA5}">
                      <a16:colId xmlns:a16="http://schemas.microsoft.com/office/drawing/2014/main" val="450422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885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37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0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715881"/>
                  </a:ext>
                </a:extLst>
              </a:tr>
            </a:tbl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ACB1EB-9D01-0F13-0A8B-7F8D6CECA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363357"/>
            <a:ext cx="7680960" cy="1760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Given that it isn’t raining, what is the probability of no traffic?</a:t>
            </a:r>
          </a:p>
        </p:txBody>
      </p:sp>
    </p:spTree>
    <p:extLst>
      <p:ext uri="{BB962C8B-B14F-4D97-AF65-F5344CB8AC3E}">
        <p14:creationId xmlns:p14="http://schemas.microsoft.com/office/powerpoint/2010/main" val="288291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C5BA0-41C4-2041-7FD5-AEBCA248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EDAC7B-2F9A-1B8F-096C-0A912005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 Example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5E6ECB-AB3F-34FC-C7AB-10120C56166F}"/>
              </a:ext>
            </a:extLst>
          </p:cNvPr>
          <p:cNvGraphicFramePr>
            <a:graphicFrameLocks noGrp="1"/>
          </p:cNvGraphicFramePr>
          <p:nvPr/>
        </p:nvGraphicFramePr>
        <p:xfrm>
          <a:off x="1098550" y="4366260"/>
          <a:ext cx="507523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235">
                  <a:extLst>
                    <a:ext uri="{9D8B030D-6E8A-4147-A177-3AD203B41FA5}">
                      <a16:colId xmlns:a16="http://schemas.microsoft.com/office/drawing/2014/main" val="3447128229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36845036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486940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00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8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408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B1CA88-9A60-7309-502A-2EF2C783D337}"/>
              </a:ext>
            </a:extLst>
          </p:cNvPr>
          <p:cNvGraphicFramePr>
            <a:graphicFrameLocks noGrp="1"/>
          </p:cNvGraphicFramePr>
          <p:nvPr/>
        </p:nvGraphicFramePr>
        <p:xfrm>
          <a:off x="1098550" y="6616303"/>
          <a:ext cx="9952034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765">
                  <a:extLst>
                    <a:ext uri="{9D8B030D-6E8A-4147-A177-3AD203B41FA5}">
                      <a16:colId xmlns:a16="http://schemas.microsoft.com/office/drawing/2014/main" val="1312848509"/>
                    </a:ext>
                  </a:extLst>
                </a:gridCol>
                <a:gridCol w="2329440">
                  <a:extLst>
                    <a:ext uri="{9D8B030D-6E8A-4147-A177-3AD203B41FA5}">
                      <a16:colId xmlns:a16="http://schemas.microsoft.com/office/drawing/2014/main" val="1642062339"/>
                    </a:ext>
                  </a:extLst>
                </a:gridCol>
                <a:gridCol w="1757109">
                  <a:extLst>
                    <a:ext uri="{9D8B030D-6E8A-4147-A177-3AD203B41FA5}">
                      <a16:colId xmlns:a16="http://schemas.microsoft.com/office/drawing/2014/main" val="1331218443"/>
                    </a:ext>
                  </a:extLst>
                </a:gridCol>
                <a:gridCol w="2273907">
                  <a:extLst>
                    <a:ext uri="{9D8B030D-6E8A-4147-A177-3AD203B41FA5}">
                      <a16:colId xmlns:a16="http://schemas.microsoft.com/office/drawing/2014/main" val="1035513693"/>
                    </a:ext>
                  </a:extLst>
                </a:gridCol>
                <a:gridCol w="1712813">
                  <a:extLst>
                    <a:ext uri="{9D8B030D-6E8A-4147-A177-3AD203B41FA5}">
                      <a16:colId xmlns:a16="http://schemas.microsoft.com/office/drawing/2014/main" val="450422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885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37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0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715881"/>
                  </a:ext>
                </a:extLst>
              </a:tr>
            </a:tbl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DA24FCF-81CD-EBFB-A3D0-45FD2EAC8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363357"/>
            <a:ext cx="7680960" cy="1760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Given that it isn’t raining, what is the probability of no traffic?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F5E3FDE-8E6F-14D8-5E28-F9E87031EF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Using the chain rule and the graph, we compute:</a:t>
                </a:r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F5E3FDE-8E6F-14D8-5E28-F9E87031EF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60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1818-ED1F-056A-F1AC-28963526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traffic jam&#10;&#10;Description automatically generated">
            <a:extLst>
              <a:ext uri="{FF2B5EF4-FFF2-40B4-BE49-F238E27FC236}">
                <a16:creationId xmlns:a16="http://schemas.microsoft.com/office/drawing/2014/main" id="{7346CA45-2993-BB32-2BDE-E15941E07B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88589" y="2483881"/>
            <a:ext cx="6894513" cy="620506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9CCB63-48F2-1455-0307-13E3ADD73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 Example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64253F-53F4-F44D-EAD1-5CDD350A6639}"/>
              </a:ext>
            </a:extLst>
          </p:cNvPr>
          <p:cNvGraphicFramePr>
            <a:graphicFrameLocks noGrp="1"/>
          </p:cNvGraphicFramePr>
          <p:nvPr/>
        </p:nvGraphicFramePr>
        <p:xfrm>
          <a:off x="1098550" y="4366260"/>
          <a:ext cx="507523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235">
                  <a:extLst>
                    <a:ext uri="{9D8B030D-6E8A-4147-A177-3AD203B41FA5}">
                      <a16:colId xmlns:a16="http://schemas.microsoft.com/office/drawing/2014/main" val="3447128229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36845036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486940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00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8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408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4748344-EF61-BA4B-0FE7-32A0193480CD}"/>
              </a:ext>
            </a:extLst>
          </p:cNvPr>
          <p:cNvGraphicFramePr>
            <a:graphicFrameLocks noGrp="1"/>
          </p:cNvGraphicFramePr>
          <p:nvPr/>
        </p:nvGraphicFramePr>
        <p:xfrm>
          <a:off x="1098550" y="6616303"/>
          <a:ext cx="9952034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765">
                  <a:extLst>
                    <a:ext uri="{9D8B030D-6E8A-4147-A177-3AD203B41FA5}">
                      <a16:colId xmlns:a16="http://schemas.microsoft.com/office/drawing/2014/main" val="1312848509"/>
                    </a:ext>
                  </a:extLst>
                </a:gridCol>
                <a:gridCol w="2329440">
                  <a:extLst>
                    <a:ext uri="{9D8B030D-6E8A-4147-A177-3AD203B41FA5}">
                      <a16:colId xmlns:a16="http://schemas.microsoft.com/office/drawing/2014/main" val="1642062339"/>
                    </a:ext>
                  </a:extLst>
                </a:gridCol>
                <a:gridCol w="1757109">
                  <a:extLst>
                    <a:ext uri="{9D8B030D-6E8A-4147-A177-3AD203B41FA5}">
                      <a16:colId xmlns:a16="http://schemas.microsoft.com/office/drawing/2014/main" val="1331218443"/>
                    </a:ext>
                  </a:extLst>
                </a:gridCol>
                <a:gridCol w="2273907">
                  <a:extLst>
                    <a:ext uri="{9D8B030D-6E8A-4147-A177-3AD203B41FA5}">
                      <a16:colId xmlns:a16="http://schemas.microsoft.com/office/drawing/2014/main" val="1035513693"/>
                    </a:ext>
                  </a:extLst>
                </a:gridCol>
                <a:gridCol w="1712813">
                  <a:extLst>
                    <a:ext uri="{9D8B030D-6E8A-4147-A177-3AD203B41FA5}">
                      <a16:colId xmlns:a16="http://schemas.microsoft.com/office/drawing/2014/main" val="450422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885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37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0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715881"/>
                  </a:ext>
                </a:extLst>
              </a:tr>
            </a:tbl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3D53B04-B920-F08C-DBEF-97DAE8E0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363357"/>
            <a:ext cx="7680960" cy="1760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Given that it isn’t raining, what is the probability of no traffic?</a:t>
            </a:r>
          </a:p>
        </p:txBody>
      </p:sp>
    </p:spTree>
    <p:extLst>
      <p:ext uri="{BB962C8B-B14F-4D97-AF65-F5344CB8AC3E}">
        <p14:creationId xmlns:p14="http://schemas.microsoft.com/office/powerpoint/2010/main" val="4073250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6CD3-AD7F-EB1F-066C-43AE1A0B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82DB71-808D-AC16-3304-3F2F4CEA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 Example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6F05D0-C739-6624-DA42-AE792F6AD1CE}"/>
              </a:ext>
            </a:extLst>
          </p:cNvPr>
          <p:cNvGraphicFramePr>
            <a:graphicFrameLocks noGrp="1"/>
          </p:cNvGraphicFramePr>
          <p:nvPr/>
        </p:nvGraphicFramePr>
        <p:xfrm>
          <a:off x="1098550" y="4366260"/>
          <a:ext cx="507523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235">
                  <a:extLst>
                    <a:ext uri="{9D8B030D-6E8A-4147-A177-3AD203B41FA5}">
                      <a16:colId xmlns:a16="http://schemas.microsoft.com/office/drawing/2014/main" val="3447128229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36845036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486940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00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8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408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2112A25-336A-7566-E96B-935078C58194}"/>
              </a:ext>
            </a:extLst>
          </p:cNvPr>
          <p:cNvGraphicFramePr>
            <a:graphicFrameLocks noGrp="1"/>
          </p:cNvGraphicFramePr>
          <p:nvPr/>
        </p:nvGraphicFramePr>
        <p:xfrm>
          <a:off x="1098550" y="6616303"/>
          <a:ext cx="9952034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765">
                  <a:extLst>
                    <a:ext uri="{9D8B030D-6E8A-4147-A177-3AD203B41FA5}">
                      <a16:colId xmlns:a16="http://schemas.microsoft.com/office/drawing/2014/main" val="1312848509"/>
                    </a:ext>
                  </a:extLst>
                </a:gridCol>
                <a:gridCol w="2329440">
                  <a:extLst>
                    <a:ext uri="{9D8B030D-6E8A-4147-A177-3AD203B41FA5}">
                      <a16:colId xmlns:a16="http://schemas.microsoft.com/office/drawing/2014/main" val="1642062339"/>
                    </a:ext>
                  </a:extLst>
                </a:gridCol>
                <a:gridCol w="1757109">
                  <a:extLst>
                    <a:ext uri="{9D8B030D-6E8A-4147-A177-3AD203B41FA5}">
                      <a16:colId xmlns:a16="http://schemas.microsoft.com/office/drawing/2014/main" val="1331218443"/>
                    </a:ext>
                  </a:extLst>
                </a:gridCol>
                <a:gridCol w="2273907">
                  <a:extLst>
                    <a:ext uri="{9D8B030D-6E8A-4147-A177-3AD203B41FA5}">
                      <a16:colId xmlns:a16="http://schemas.microsoft.com/office/drawing/2014/main" val="1035513693"/>
                    </a:ext>
                  </a:extLst>
                </a:gridCol>
                <a:gridCol w="1712813">
                  <a:extLst>
                    <a:ext uri="{9D8B030D-6E8A-4147-A177-3AD203B41FA5}">
                      <a16:colId xmlns:a16="http://schemas.microsoft.com/office/drawing/2014/main" val="450422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885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37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0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715881"/>
                  </a:ext>
                </a:extLst>
              </a:tr>
            </a:tbl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AC5CD75-3396-8585-1E93-70646E805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363357"/>
            <a:ext cx="7680960" cy="1760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Given that it isn’t raining, what is the probability of no traffic?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C72B7F-18CC-22D6-4C90-C98C40C598A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Using the chain rule and the graph, we compute:</a:t>
                </a:r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C72B7F-18CC-22D6-4C90-C98C40C59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290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A88DA-0E2B-202A-9963-5FFF7ACC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ADADB4-B29B-C309-8EDE-E21F296F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 Example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FFCCE9-9A51-3E03-703B-D740A0FE0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403683"/>
              </p:ext>
            </p:extLst>
          </p:nvPr>
        </p:nvGraphicFramePr>
        <p:xfrm>
          <a:off x="1098550" y="4366260"/>
          <a:ext cx="507523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235">
                  <a:extLst>
                    <a:ext uri="{9D8B030D-6E8A-4147-A177-3AD203B41FA5}">
                      <a16:colId xmlns:a16="http://schemas.microsoft.com/office/drawing/2014/main" val="3447128229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36845036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486940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00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8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408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DCC7DE8-FFF6-D64F-AE15-427E42B35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598813"/>
              </p:ext>
            </p:extLst>
          </p:nvPr>
        </p:nvGraphicFramePr>
        <p:xfrm>
          <a:off x="1098550" y="6616303"/>
          <a:ext cx="995203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765">
                  <a:extLst>
                    <a:ext uri="{9D8B030D-6E8A-4147-A177-3AD203B41FA5}">
                      <a16:colId xmlns:a16="http://schemas.microsoft.com/office/drawing/2014/main" val="1312848509"/>
                    </a:ext>
                  </a:extLst>
                </a:gridCol>
                <a:gridCol w="2329440">
                  <a:extLst>
                    <a:ext uri="{9D8B030D-6E8A-4147-A177-3AD203B41FA5}">
                      <a16:colId xmlns:a16="http://schemas.microsoft.com/office/drawing/2014/main" val="1642062339"/>
                    </a:ext>
                  </a:extLst>
                </a:gridCol>
                <a:gridCol w="1757109">
                  <a:extLst>
                    <a:ext uri="{9D8B030D-6E8A-4147-A177-3AD203B41FA5}">
                      <a16:colId xmlns:a16="http://schemas.microsoft.com/office/drawing/2014/main" val="1331218443"/>
                    </a:ext>
                  </a:extLst>
                </a:gridCol>
                <a:gridCol w="2273907">
                  <a:extLst>
                    <a:ext uri="{9D8B030D-6E8A-4147-A177-3AD203B41FA5}">
                      <a16:colId xmlns:a16="http://schemas.microsoft.com/office/drawing/2014/main" val="1035513693"/>
                    </a:ext>
                  </a:extLst>
                </a:gridCol>
                <a:gridCol w="1712813">
                  <a:extLst>
                    <a:ext uri="{9D8B030D-6E8A-4147-A177-3AD203B41FA5}">
                      <a16:colId xmlns:a16="http://schemas.microsoft.com/office/drawing/2014/main" val="450422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885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37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0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715881"/>
                  </a:ext>
                </a:extLst>
              </a:tr>
            </a:tbl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118894-1D3F-E430-2F82-6F93CB478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363357"/>
            <a:ext cx="7680960" cy="1760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Given that it isn’t raining, what is the probability of no traffic?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8FCC72-CFDD-7BFA-8F9B-DD17C8D7DAD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Using the chain rule and the graph, we compute:</a:t>
                </a:r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8FCC72-CFDD-7BFA-8F9B-DD17C8D7D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840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3E463-A3AE-B486-6650-0B990941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AAD185-FBA0-CCEC-2460-639BAF75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 Example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44A050-1437-7D69-B51D-7C6A867F043B}"/>
              </a:ext>
            </a:extLst>
          </p:cNvPr>
          <p:cNvGraphicFramePr>
            <a:graphicFrameLocks noGrp="1"/>
          </p:cNvGraphicFramePr>
          <p:nvPr/>
        </p:nvGraphicFramePr>
        <p:xfrm>
          <a:off x="1098550" y="4366260"/>
          <a:ext cx="507523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235">
                  <a:extLst>
                    <a:ext uri="{9D8B030D-6E8A-4147-A177-3AD203B41FA5}">
                      <a16:colId xmlns:a16="http://schemas.microsoft.com/office/drawing/2014/main" val="3447128229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36845036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486940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00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8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408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178D53F-F26E-F971-70BF-ED4C82C83374}"/>
              </a:ext>
            </a:extLst>
          </p:cNvPr>
          <p:cNvGraphicFramePr>
            <a:graphicFrameLocks noGrp="1"/>
          </p:cNvGraphicFramePr>
          <p:nvPr/>
        </p:nvGraphicFramePr>
        <p:xfrm>
          <a:off x="1098550" y="6616303"/>
          <a:ext cx="995203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765">
                  <a:extLst>
                    <a:ext uri="{9D8B030D-6E8A-4147-A177-3AD203B41FA5}">
                      <a16:colId xmlns:a16="http://schemas.microsoft.com/office/drawing/2014/main" val="1312848509"/>
                    </a:ext>
                  </a:extLst>
                </a:gridCol>
                <a:gridCol w="2329440">
                  <a:extLst>
                    <a:ext uri="{9D8B030D-6E8A-4147-A177-3AD203B41FA5}">
                      <a16:colId xmlns:a16="http://schemas.microsoft.com/office/drawing/2014/main" val="1642062339"/>
                    </a:ext>
                  </a:extLst>
                </a:gridCol>
                <a:gridCol w="1757109">
                  <a:extLst>
                    <a:ext uri="{9D8B030D-6E8A-4147-A177-3AD203B41FA5}">
                      <a16:colId xmlns:a16="http://schemas.microsoft.com/office/drawing/2014/main" val="1331218443"/>
                    </a:ext>
                  </a:extLst>
                </a:gridCol>
                <a:gridCol w="2273907">
                  <a:extLst>
                    <a:ext uri="{9D8B030D-6E8A-4147-A177-3AD203B41FA5}">
                      <a16:colId xmlns:a16="http://schemas.microsoft.com/office/drawing/2014/main" val="1035513693"/>
                    </a:ext>
                  </a:extLst>
                </a:gridCol>
                <a:gridCol w="1712813">
                  <a:extLst>
                    <a:ext uri="{9D8B030D-6E8A-4147-A177-3AD203B41FA5}">
                      <a16:colId xmlns:a16="http://schemas.microsoft.com/office/drawing/2014/main" val="450422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No 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885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Accident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37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No 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0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715881"/>
                  </a:ext>
                </a:extLst>
              </a:tr>
            </a:tbl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30E2EEA-00AA-5886-36CF-5747401C8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363357"/>
            <a:ext cx="7680960" cy="1760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Given that it isn’t raining, what is the probability of no traffic?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63E733-EAD8-12C3-D410-F929791DAD8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Using the chain rule and the graph, we compute:</a:t>
                </a:r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0.95</m:t>
                    </m:r>
                    <m:r>
                      <a:rPr lang="en-US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0.9+0.6</m:t>
                    </m:r>
                    <m:r>
                      <a:rPr lang="en-US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</m:t>
                    </m:r>
                    <m:r>
                      <a:rPr lang="en-US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</m:t>
                    </m:r>
                    <m:r>
                      <a:rPr lang="en-US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0.9150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63E733-EAD8-12C3-D410-F929791DA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84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CACBB-8C42-CCFD-9874-D4A0464E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4E7B-6B30-49AC-5DEE-E9E3159F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0AC78-C64A-6D59-FAAC-7FE9B8900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specification involves assigning a probability distribution to each node.</a:t>
            </a:r>
          </a:p>
          <a:p>
            <a:r>
              <a:rPr lang="en-US" dirty="0"/>
              <a:t>Bayes networks can get quite large and model complex behaviors. </a:t>
            </a:r>
          </a:p>
          <a:p>
            <a:r>
              <a:rPr lang="en-US" dirty="0"/>
              <a:t>They can answer probabilistic queries about variables using observed evidence. </a:t>
            </a:r>
          </a:p>
          <a:p>
            <a:r>
              <a:rPr lang="en-US" dirty="0"/>
              <a:t>One of the primary applications is text-based data. </a:t>
            </a:r>
          </a:p>
        </p:txBody>
      </p:sp>
    </p:spTree>
    <p:extLst>
      <p:ext uri="{BB962C8B-B14F-4D97-AF65-F5344CB8AC3E}">
        <p14:creationId xmlns:p14="http://schemas.microsoft.com/office/powerpoint/2010/main" val="2732902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F1FC-7027-CBB7-A795-DF9F42DF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07BD-A55B-FC3C-6D74-D05502ED5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367783"/>
            <a:ext cx="16084552" cy="1551434"/>
          </a:xfrm>
        </p:spPr>
        <p:txBody>
          <a:bodyPr/>
          <a:lstStyle/>
          <a:p>
            <a:r>
              <a:rPr lang="en-US" dirty="0"/>
              <a:t>Latent Dirichlet Allocation (LDA)</a:t>
            </a:r>
          </a:p>
        </p:txBody>
      </p:sp>
    </p:spTree>
    <p:extLst>
      <p:ext uri="{BB962C8B-B14F-4D97-AF65-F5344CB8AC3E}">
        <p14:creationId xmlns:p14="http://schemas.microsoft.com/office/powerpoint/2010/main" val="695843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3DE1A-3D85-B9B7-8512-3374544DC3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Latent Dirichlet Allocation (LDA) is a Bayesian network model. </a:t>
            </a:r>
          </a:p>
          <a:p>
            <a:r>
              <a:rPr lang="en-US" dirty="0"/>
              <a:t>It is used for topic modeling within text data.</a:t>
            </a:r>
          </a:p>
          <a:p>
            <a:pPr lvl="1"/>
            <a:r>
              <a:rPr lang="en-US" dirty="0"/>
              <a:t>It identifies topics within a set of documents by representing the relationships between documents, topics, and words probabilistically. 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C1DBE32A-0E67-B57A-D64A-D6C6669940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099469" y="2085975"/>
            <a:ext cx="6486936" cy="651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71540F-3D39-794E-018D-9906D02F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Latent Dirichlet Allocation (LDA)?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ADD21-7ADA-78F5-AB0F-CD549ED814D3}"/>
              </a:ext>
            </a:extLst>
          </p:cNvPr>
          <p:cNvSpPr txBox="1"/>
          <p:nvPr/>
        </p:nvSpPr>
        <p:spPr>
          <a:xfrm>
            <a:off x="10099469" y="8763000"/>
            <a:ext cx="344508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Taken from IBM</a:t>
            </a:r>
          </a:p>
        </p:txBody>
      </p:sp>
    </p:spTree>
    <p:extLst>
      <p:ext uri="{BB962C8B-B14F-4D97-AF65-F5344CB8AC3E}">
        <p14:creationId xmlns:p14="http://schemas.microsoft.com/office/powerpoint/2010/main" val="387201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tack of magazines">
            <a:extLst>
              <a:ext uri="{FF2B5EF4-FFF2-40B4-BE49-F238E27FC236}">
                <a16:creationId xmlns:a16="http://schemas.microsoft.com/office/drawing/2014/main" id="{7EF5ECED-7535-78BA-6EE9-8900F27578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40" r="10740"/>
          <a:stretch/>
        </p:blipFill>
        <p:spPr>
          <a:xfrm>
            <a:off x="1098550" y="2085698"/>
            <a:ext cx="7680960" cy="65151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E291257-1016-28C4-63DE-70B6DAD2986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502142" y="2085698"/>
                <a:ext cx="7680960" cy="6515100"/>
              </a:xfrm>
            </p:spPr>
            <p:txBody>
              <a:bodyPr wrap="square" anchor="t"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/>
                  <a:t>Suppose you have a corpus of articles from a journal or magazine.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LDA requires we specify a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 number of topics in the corpus.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Each word that appears in the corpus is assigned to one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topics using a Dirichlet distribution.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E291257-1016-28C4-63DE-70B6DAD29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502142" y="2085698"/>
                <a:ext cx="7680960" cy="6515100"/>
              </a:xfrm>
              <a:blipFill>
                <a:blip r:embed="rId3"/>
                <a:stretch>
                  <a:fillRect l="-2310" t="-2724" r="-3960" b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91869B1C-D16E-F69F-FE2C-06F65B1B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How LDA Works</a:t>
            </a:r>
          </a:p>
        </p:txBody>
      </p:sp>
    </p:spTree>
    <p:extLst>
      <p:ext uri="{BB962C8B-B14F-4D97-AF65-F5344CB8AC3E}">
        <p14:creationId xmlns:p14="http://schemas.microsoft.com/office/powerpoint/2010/main" val="639277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22C031-CD08-5AA5-590C-D3240B8A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LDA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BEF82CA-FC56-F62C-6840-F14AC9B099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Stop words are removed, and lemmatization is done. </a:t>
                </a:r>
              </a:p>
              <a:p>
                <a:r>
                  <a:rPr lang="en-US" dirty="0"/>
                  <a:t>Topic assignments for each word are updated iteratively. </a:t>
                </a:r>
              </a:p>
              <a:p>
                <a:pPr lvl="1"/>
                <a:r>
                  <a:rPr lang="en-US" dirty="0"/>
                  <a:t>As a consequence, we update the prevalence of the topics in the document. </a:t>
                </a:r>
              </a:p>
              <a:p>
                <a:r>
                  <a:rPr lang="en-US" dirty="0"/>
                  <a:t>LDA produce two types of output. </a:t>
                </a:r>
              </a:p>
              <a:p>
                <a:pPr lvl="1"/>
                <a:r>
                  <a:rPr lang="en-US" dirty="0"/>
                  <a:t>The words that are most frequently associated with each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topics specified by the user. </a:t>
                </a:r>
              </a:p>
              <a:p>
                <a:pPr lvl="1"/>
                <a:r>
                  <a:rPr lang="en-US" dirty="0"/>
                  <a:t>The probability that each document within the corpus is associated with each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topics specified by the user as well.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BEF82CA-FC56-F62C-6840-F14AC9B09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183" b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293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0000F-BE1E-A2CF-AB71-7E8D98DC5B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Documents in the corpus are generally assigned the topic they have the strongest association.</a:t>
            </a:r>
          </a:p>
          <a:p>
            <a:r>
              <a:rPr lang="en-US" dirty="0"/>
              <a:t>LDA allows for a classification of text-based objects. </a:t>
            </a:r>
          </a:p>
          <a:p>
            <a:pPr lvl="1"/>
            <a:r>
              <a:rPr lang="en-US" dirty="0"/>
              <a:t>Sort books and articles by topics. </a:t>
            </a:r>
          </a:p>
          <a:p>
            <a:pPr lvl="1"/>
            <a:r>
              <a:rPr lang="en-US" dirty="0"/>
              <a:t>Sort movies by script. </a:t>
            </a:r>
          </a:p>
        </p:txBody>
      </p:sp>
      <p:pic>
        <p:nvPicPr>
          <p:cNvPr id="7" name="Content Placeholder 6" descr="A diagram of a diagram&#10;&#10;Description automatically generated">
            <a:extLst>
              <a:ext uri="{FF2B5EF4-FFF2-40B4-BE49-F238E27FC236}">
                <a16:creationId xmlns:a16="http://schemas.microsoft.com/office/drawing/2014/main" id="{C8E2B637-739E-B784-CBD1-9C3106BA09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02775" y="3245423"/>
            <a:ext cx="7680325" cy="419620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82780FF-ED33-2579-8CA8-58023F2B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LDA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56C26-BC2E-3677-9D4A-0139CD62AEFE}"/>
              </a:ext>
            </a:extLst>
          </p:cNvPr>
          <p:cNvSpPr txBox="1"/>
          <p:nvPr/>
        </p:nvSpPr>
        <p:spPr>
          <a:xfrm>
            <a:off x="9502775" y="7441627"/>
            <a:ext cx="541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Taken from Medium, Kung-Hsiang, Huang (Steeve)</a:t>
            </a:r>
          </a:p>
        </p:txBody>
      </p:sp>
    </p:spTree>
    <p:extLst>
      <p:ext uri="{BB962C8B-B14F-4D97-AF65-F5344CB8AC3E}">
        <p14:creationId xmlns:p14="http://schemas.microsoft.com/office/powerpoint/2010/main" val="3800851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D5DC5-6A36-8960-60BA-6CBB351A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C251-4421-35B9-0573-2D618FC7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367783"/>
            <a:ext cx="16084552" cy="1551434"/>
          </a:xfrm>
        </p:spPr>
        <p:txBody>
          <a:bodyPr/>
          <a:lstStyle/>
          <a:p>
            <a:r>
              <a:rPr lang="en-US" dirty="0"/>
              <a:t>Simple Example with </a:t>
            </a:r>
            <a:br>
              <a:rPr lang="en-US" dirty="0"/>
            </a:br>
            <a:r>
              <a:rPr lang="en-US" dirty="0"/>
              <a:t>Associated Press Dataset</a:t>
            </a:r>
          </a:p>
        </p:txBody>
      </p:sp>
    </p:spTree>
    <p:extLst>
      <p:ext uri="{BB962C8B-B14F-4D97-AF65-F5344CB8AC3E}">
        <p14:creationId xmlns:p14="http://schemas.microsoft.com/office/powerpoint/2010/main" val="766593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289AB9B-F806-CB13-4F3E-C0EE97B5A6E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Notice that the topics are unlabeled.</a:t>
                </a:r>
              </a:p>
              <a:p>
                <a:r>
                  <a:rPr lang="en-US" dirty="0"/>
                  <a:t>You need to review and assign a description, in practice. </a:t>
                </a:r>
              </a:p>
              <a:p>
                <a:pPr lvl="1"/>
                <a:r>
                  <a:rPr lang="en-US" dirty="0"/>
                  <a:t>If the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 poor fit or the data isn’t prepped well, the results won’t make sense.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289AB9B-F806-CB13-4F3E-C0EE97B5A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10" t="-1751" r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3">
            <a:extLst>
              <a:ext uri="{FF2B5EF4-FFF2-40B4-BE49-F238E27FC236}">
                <a16:creationId xmlns:a16="http://schemas.microsoft.com/office/drawing/2014/main" id="{4804CF1E-6A05-AFD6-9633-3B160DC19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 descr="A group of colorful bars&#10;&#10;Description automatically generated with medium confidence">
            <a:extLst>
              <a:ext uri="{FF2B5EF4-FFF2-40B4-BE49-F238E27FC236}">
                <a16:creationId xmlns:a16="http://schemas.microsoft.com/office/drawing/2014/main" id="{1315EC1B-34BB-7B4F-8D56-42AC5A585F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70143" y="2085975"/>
            <a:ext cx="7337139" cy="6515100"/>
          </a:xfrm>
        </p:spPr>
      </p:pic>
    </p:spTree>
    <p:extLst>
      <p:ext uri="{BB962C8B-B14F-4D97-AF65-F5344CB8AC3E}">
        <p14:creationId xmlns:p14="http://schemas.microsoft.com/office/powerpoint/2010/main" val="2956781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2EA6-3840-E900-891F-3C03646D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a Bayesian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2C69-34C4-205D-BB74-4B074550B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process builds tables, where words are columns and documents are rows. </a:t>
            </a:r>
          </a:p>
          <a:p>
            <a:pPr lvl="1"/>
            <a:r>
              <a:rPr lang="en-US" dirty="0"/>
              <a:t>Cells contain the frequency of the word within the document. </a:t>
            </a:r>
          </a:p>
          <a:p>
            <a:r>
              <a:rPr lang="en-US" dirty="0"/>
              <a:t>Words are iteratively assigned to a (nameless) topic using Gibbs sampling.</a:t>
            </a:r>
          </a:p>
          <a:p>
            <a:r>
              <a:rPr lang="en-US" dirty="0"/>
              <a:t>After convergence, conditional probabilities can be computed</a:t>
            </a:r>
          </a:p>
          <a:p>
            <a:r>
              <a:rPr lang="en-US" dirty="0"/>
              <a:t>We aim to compute the likelihood of a topic given the set of words present.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97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11D801-5798-6FEC-3D07-F5CEA88FE9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can draw the underlying network defining the relationship between the words and the topics. </a:t>
            </a:r>
          </a:p>
          <a:p>
            <a:r>
              <a:rPr lang="en-US" dirty="0"/>
              <a:t>Documents are classified based on how strongly they associate with a topic. </a:t>
            </a:r>
          </a:p>
        </p:txBody>
      </p:sp>
      <p:pic>
        <p:nvPicPr>
          <p:cNvPr id="7" name="Content Placeholder 6" descr="A network of words and a chart&#10;&#10;Description automatically generated with medium confidence">
            <a:extLst>
              <a:ext uri="{FF2B5EF4-FFF2-40B4-BE49-F238E27FC236}">
                <a16:creationId xmlns:a16="http://schemas.microsoft.com/office/drawing/2014/main" id="{03A7980D-9195-8E12-8D9F-53D1599EE4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674368" y="2085975"/>
            <a:ext cx="7337139" cy="65151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0A2CFC-D0EC-C41D-96AA-02D7204C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Graph</a:t>
            </a:r>
          </a:p>
        </p:txBody>
      </p:sp>
    </p:spTree>
    <p:extLst>
      <p:ext uri="{BB962C8B-B14F-4D97-AF65-F5344CB8AC3E}">
        <p14:creationId xmlns:p14="http://schemas.microsoft.com/office/powerpoint/2010/main" val="4002550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a number of topics&#10;&#10;Description automatically generated">
            <a:extLst>
              <a:ext uri="{FF2B5EF4-FFF2-40B4-BE49-F238E27FC236}">
                <a16:creationId xmlns:a16="http://schemas.microsoft.com/office/drawing/2014/main" id="{5492041B-EEFA-CD59-0761-34D4F06CDB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0143" y="2085975"/>
            <a:ext cx="7337139" cy="65151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F15B2-78B8-1CFE-ECF3-69F3D0F4C3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These topics are nameless and inferred; picking the right number is crucial. </a:t>
            </a:r>
          </a:p>
          <a:p>
            <a:r>
              <a:rPr lang="en-US" dirty="0"/>
              <a:t>We look for k that </a:t>
            </a:r>
          </a:p>
          <a:p>
            <a:pPr lvl="1"/>
            <a:r>
              <a:rPr lang="en-US" dirty="0"/>
              <a:t>maximize likelihood (e.g. Griffiths2004) </a:t>
            </a:r>
          </a:p>
          <a:p>
            <a:pPr lvl="1"/>
            <a:r>
              <a:rPr lang="en-US" dirty="0"/>
              <a:t>minimize complexity (e.g., Arun2010, which minimizes KL-divergence).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389819-B2A1-DC14-A18A-8B2CC8BCB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k</a:t>
            </a:r>
          </a:p>
        </p:txBody>
      </p:sp>
    </p:spTree>
    <p:extLst>
      <p:ext uri="{BB962C8B-B14F-4D97-AF65-F5344CB8AC3E}">
        <p14:creationId xmlns:p14="http://schemas.microsoft.com/office/powerpoint/2010/main" val="1215939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6147-CE77-71D6-EDB2-BFE22B1D9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449F3-13AD-3C35-1F2D-04899AAC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networks model data by tracking conditional dependencies. </a:t>
            </a:r>
          </a:p>
          <a:p>
            <a:r>
              <a:rPr lang="en-US" dirty="0"/>
              <a:t>One application is Latent Dirichlet Allocation, which determines the probability that a document in a corpus belongs to an unlabeled topic. </a:t>
            </a:r>
          </a:p>
          <a:p>
            <a:r>
              <a:rPr lang="en-US" dirty="0"/>
              <a:t>Intermediary nodes are the words within that document.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33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37F79C-8003-4AC6-9505-E5DCB5CA59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1908</TotalTime>
  <Words>1005</Words>
  <Application>Microsoft Macintosh PowerPoint</Application>
  <PresentationFormat>Custom</PresentationFormat>
  <Paragraphs>236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Cambria Math</vt:lpstr>
      <vt:lpstr>Wingdings 2</vt:lpstr>
      <vt:lpstr>Breeze</vt:lpstr>
      <vt:lpstr>Bayesian  Computational Statistics</vt:lpstr>
      <vt:lpstr>Live Session 3:  Latent Dirichlet Allocation</vt:lpstr>
      <vt:lpstr>Live Sessions</vt:lpstr>
      <vt:lpstr>Objectives</vt:lpstr>
      <vt:lpstr>Bayesian Networks</vt:lpstr>
      <vt:lpstr>What are Bayesian Networks?</vt:lpstr>
      <vt:lpstr>Bayesian Network Example</vt:lpstr>
      <vt:lpstr>Bayesian Network Example</vt:lpstr>
      <vt:lpstr>Bayesian Network Example</vt:lpstr>
      <vt:lpstr>Bayesian Network Example</vt:lpstr>
      <vt:lpstr>Bayesian Network Example</vt:lpstr>
      <vt:lpstr>Bayesian Network Example</vt:lpstr>
      <vt:lpstr>Bayes Networks</vt:lpstr>
      <vt:lpstr>Latent Dirichlet Allocation (LDA)</vt:lpstr>
      <vt:lpstr>What is Latent Dirichlet Allocation (LDA)?</vt:lpstr>
      <vt:lpstr>How LDA Works</vt:lpstr>
      <vt:lpstr>How LDA Works</vt:lpstr>
      <vt:lpstr>Results of LDA</vt:lpstr>
      <vt:lpstr>Simple Example with  Associated Press Dataset</vt:lpstr>
      <vt:lpstr>Results</vt:lpstr>
      <vt:lpstr>How is this a Bayesian Network?</vt:lpstr>
      <vt:lpstr>Network Graph</vt:lpstr>
      <vt:lpstr>Computing k</vt:lpstr>
      <vt:lpstr>Summary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20</cp:revision>
  <dcterms:created xsi:type="dcterms:W3CDTF">2019-02-13T16:04:21Z</dcterms:created>
  <dcterms:modified xsi:type="dcterms:W3CDTF">2025-04-11T00:16:36Z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MSIP_Label_f2dee603-0001-4639-81f8-0608a53322f1_Enabled">
    <vt:lpwstr>true</vt:lpwstr>
  </property>
  <property fmtid="{D5CDD505-2E9C-101B-9397-08002B2CF9AE}" pid="5" name="MSIP_Label_f2dee603-0001-4639-81f8-0608a53322f1_SetDate">
    <vt:lpwstr>2024-08-29T17:33:44Z</vt:lpwstr>
  </property>
  <property fmtid="{D5CDD505-2E9C-101B-9397-08002B2CF9AE}" pid="6" name="MSIP_Label_f2dee603-0001-4639-81f8-0608a53322f1_Method">
    <vt:lpwstr>Standard</vt:lpwstr>
  </property>
  <property fmtid="{D5CDD505-2E9C-101B-9397-08002B2CF9AE}" pid="7" name="MSIP_Label_f2dee603-0001-4639-81f8-0608a53322f1_Name">
    <vt:lpwstr>defa4170-0d19-0005-0004-bc88714345d2</vt:lpwstr>
  </property>
  <property fmtid="{D5CDD505-2E9C-101B-9397-08002B2CF9AE}" pid="8" name="MSIP_Label_f2dee603-0001-4639-81f8-0608a53322f1_SiteId">
    <vt:lpwstr>b4478c05-3dd9-4e06-a7fb-5dcf72bd44ee</vt:lpwstr>
  </property>
  <property fmtid="{D5CDD505-2E9C-101B-9397-08002B2CF9AE}" pid="9" name="MSIP_Label_f2dee603-0001-4639-81f8-0608a53322f1_ActionId">
    <vt:lpwstr>4fbe17c5-0b8c-4dd3-b4c7-c0fb9a1922ac</vt:lpwstr>
  </property>
  <property fmtid="{D5CDD505-2E9C-101B-9397-08002B2CF9AE}" pid="10" name="MSIP_Label_f2dee603-0001-4639-81f8-0608a53322f1_ContentBits">
    <vt:lpwstr>0</vt:lpwstr>
  </property>
</Properties>
</file>